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90" r:id="rId9"/>
    <p:sldId id="266" r:id="rId10"/>
    <p:sldId id="2691" r:id="rId11"/>
    <p:sldId id="268" r:id="rId12"/>
    <p:sldId id="2689" r:id="rId13"/>
    <p:sldId id="259" r:id="rId14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ao44pu+KCA6NTQBv1XWNfs34U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4" autoAdjust="0"/>
    <p:restoredTop sz="94585" autoAdjust="0"/>
  </p:normalViewPr>
  <p:slideViewPr>
    <p:cSldViewPr snapToGrid="0">
      <p:cViewPr>
        <p:scale>
          <a:sx n="80" d="100"/>
          <a:sy n="80" d="100"/>
        </p:scale>
        <p:origin x="-864" y="396"/>
      </p:cViewPr>
      <p:guideLst>
        <p:guide orient="horz" pos="2160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911694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xmlns="" id="{DAD157A8-1C1F-4A6B-F197-091732FF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xmlns="" id="{A0922F1A-1AF4-1332-BE6E-BC9F3873E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xmlns="" id="{ABD48EB9-8A42-8310-994F-C97BC51CB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34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xmlns="" id="{127A3BD1-575B-073B-F078-26E32A83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xmlns="" id="{31F31ABE-0D79-D68E-F3F8-BB7FACD4F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xmlns="" id="{8688A882-4B64-10B1-C908-7341EDCA7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32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xmlns="" id="{C9630EBA-D568-4889-0B32-8981B2E4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xmlns="" id="{0503F192-17FB-698E-ECD1-4CC8A60D6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xmlns="" id="{DA251B28-FDCE-36D8-EB56-B7F8D5F44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12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xmlns="" id="{C35803BE-557E-7724-F461-5305773B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xmlns="" id="{A2833593-2745-22BA-6E21-5E050C082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xmlns="" id="{0C8E9160-D94B-B132-724C-C03BFA97E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5121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xmlns="" id="{6DB006D7-2A73-D1A8-CE19-E9C06F78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xmlns="" id="{877BA6B0-3CB8-880D-4343-6F7704D6A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xmlns="" id="{B14127E5-B5D5-EF13-C72C-84D4B12A7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8263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xmlns="" id="{5E66DCE2-7338-9E45-CE05-90057930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xmlns="" id="{EE0BA2C6-E9E4-B3F2-C554-9C9CDA888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xmlns="" id="{DAE23B58-2A71-463E-2404-9E89C5E84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2892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46960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xmlns="" id="{CF8F98BC-E3B6-F419-C472-5D77EAB4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xmlns="" id="{E27501FA-503D-5B43-871C-509C515CC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xmlns="" id="{F835542A-A1D7-E0B9-5A3B-F454ECAC6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941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Coding and Programming Course</a:t>
            </a:r>
            <a:endParaRPr sz="2400" b="0" i="0" u="none" strike="noStrike" cap="none" dirty="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C&amp;P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Ti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5">
            <a:extLst>
              <a:ext uri="{FF2B5EF4-FFF2-40B4-BE49-F238E27FC236}">
                <a16:creationId xmlns:a16="http://schemas.microsoft.com/office/drawing/2014/main" xmlns="" id="{1B2B22C2-BBD9-4044-B049-D10CDF14FDE6}"/>
              </a:ext>
            </a:extLst>
          </p:cNvPr>
          <p:cNvSpPr txBox="1">
            <a:spLocks/>
          </p:cNvSpPr>
          <p:nvPr userDrawn="1"/>
        </p:nvSpPr>
        <p:spPr>
          <a:xfrm>
            <a:off x="6324398" y="6347711"/>
            <a:ext cx="243335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kern="1200" dirty="0">
                <a:solidFill>
                  <a:schemeClr val="bg1">
                    <a:lumMod val="50000"/>
                  </a:schemeClr>
                </a:solidFill>
                <a:latin typeface="SamsungSharpSans-Medium" pitchFamily="2" charset="0"/>
                <a:ea typeface="SamsungSharpSans-Medium" pitchFamily="2" charset="0"/>
                <a:cs typeface="SamsungSharpSans-Medium" pitchFamily="2" charset="0"/>
              </a:rPr>
              <a:t>Chapter 2. Math for Data Science</a:t>
            </a:r>
            <a:endParaRPr lang="ko-KR" altLang="en-US" sz="1100" kern="1200" dirty="0">
              <a:solidFill>
                <a:schemeClr val="bg1">
                  <a:lumMod val="50000"/>
                </a:schemeClr>
              </a:solidFill>
              <a:latin typeface="SamsungSharpSans-Medium" pitchFamily="2" charset="0"/>
              <a:ea typeface="SamsungSharpSans-Medium" pitchFamily="2" charset="0"/>
              <a:cs typeface="SamsungSharpSans-Medium" pitchFamily="2" charset="0"/>
            </a:endParaRPr>
          </a:p>
        </p:txBody>
      </p:sp>
      <p:sp>
        <p:nvSpPr>
          <p:cNvPr id="3" name="슬라이드 번호 개체 틀 15">
            <a:extLst>
              <a:ext uri="{FF2B5EF4-FFF2-40B4-BE49-F238E27FC236}">
                <a16:creationId xmlns:a16="http://schemas.microsoft.com/office/drawing/2014/main" xmlns="" id="{8C6D6C91-60C1-41CF-B03F-1735A6A41637}"/>
              </a:ext>
            </a:extLst>
          </p:cNvPr>
          <p:cNvSpPr txBox="1">
            <a:spLocks/>
          </p:cNvSpPr>
          <p:nvPr userDrawn="1"/>
        </p:nvSpPr>
        <p:spPr>
          <a:xfrm>
            <a:off x="8805867" y="6347726"/>
            <a:ext cx="538163" cy="16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1100" smtClean="0"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Arial Unicode MS" panose="020B0604020202020204" pitchFamily="50" charset="-127"/>
              </a:rPr>
              <a:t>/44</a:t>
            </a:r>
          </a:p>
        </p:txBody>
      </p:sp>
    </p:spTree>
    <p:extLst>
      <p:ext uri="{BB962C8B-B14F-4D97-AF65-F5344CB8AC3E}">
        <p14:creationId xmlns:p14="http://schemas.microsoft.com/office/powerpoint/2010/main" val="330670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1062900" y="35263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dirty="0"/>
              <a:t>TEAM NAME:-CHATBOT INNOVATORS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76650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/>
              <a:t>A RULE-BASED CHATBOT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85C7B48-604D-ACF7-829B-A91D982EFF84}"/>
              </a:ext>
            </a:extLst>
          </p:cNvPr>
          <p:cNvSpPr txBox="1"/>
          <p:nvPr/>
        </p:nvSpPr>
        <p:spPr>
          <a:xfrm>
            <a:off x="903008" y="2526580"/>
            <a:ext cx="6629400" cy="66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50000"/>
              </a:lnSpc>
            </a:pPr>
            <a:r>
              <a:rPr lang="en-IN" sz="1800" dirty="0"/>
              <a:t>(</a:t>
            </a:r>
            <a:r>
              <a:rPr lang="en-US" sz="1800" dirty="0">
                <a:solidFill>
                  <a:schemeClr val="tx1"/>
                </a:solidFill>
              </a:rPr>
              <a:t>A domain-specific assistant for FAQ)</a:t>
            </a:r>
            <a:endParaRPr lang="en-I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7171292" cy="4560872"/>
            <a:chOff x="4181256" y="3224809"/>
            <a:chExt cx="6934124" cy="456087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About our Team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364136" y="3476809"/>
              <a:ext cx="6751244" cy="4308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50000"/>
                </a:lnSpc>
              </a:pPr>
              <a:r>
                <a:rPr lang="en-IN" b="1" dirty="0"/>
                <a:t>Team Name:- </a:t>
              </a:r>
              <a:r>
                <a:rPr lang="en-IN" dirty="0"/>
                <a:t>Chatbot Innovators</a:t>
              </a:r>
            </a:p>
            <a:p>
              <a:pPr lvl="0">
                <a:lnSpc>
                  <a:spcPct val="250000"/>
                </a:lnSpc>
              </a:pPr>
              <a:r>
                <a:rPr lang="en-IN" b="1" dirty="0"/>
                <a:t>Project Title:- </a:t>
              </a:r>
              <a:r>
                <a:rPr lang="en-IN" dirty="0"/>
                <a:t>A Rule-Based Chatbot(</a:t>
              </a:r>
              <a:r>
                <a:rPr lang="en-US" dirty="0">
                  <a:solidFill>
                    <a:schemeClr val="tx1"/>
                  </a:solidFill>
                </a:rPr>
                <a:t> Domain-specific assistant for FAQ)</a:t>
              </a:r>
              <a:endParaRPr lang="en-IN" dirty="0">
                <a:solidFill>
                  <a:schemeClr val="tx1"/>
                </a:solidFill>
              </a:endParaRPr>
            </a:p>
            <a:p>
              <a:pPr lvl="0">
                <a:lnSpc>
                  <a:spcPct val="250000"/>
                </a:lnSpc>
              </a:pPr>
              <a:r>
                <a:rPr lang="en-IN" b="1" dirty="0">
                  <a:solidFill>
                    <a:schemeClr val="tx1"/>
                  </a:solidFill>
                </a:rPr>
                <a:t>Team Members &amp; Role:-</a:t>
              </a:r>
            </a:p>
            <a:p>
              <a:pPr lvl="0">
                <a:lnSpc>
                  <a:spcPct val="15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Ayushi ( Team leader)</a:t>
              </a:r>
            </a:p>
            <a:p>
              <a:pPr lvl="0">
                <a:lnSpc>
                  <a:spcPct val="15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Chinmay (Data leader)</a:t>
              </a:r>
            </a:p>
            <a:p>
              <a:pPr lvl="0">
                <a:lnSpc>
                  <a:spcPct val="15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Lovejot kaur (Presentation and Demo)</a:t>
              </a:r>
            </a:p>
            <a:p>
              <a:pPr lvl="0">
                <a:lnSpc>
                  <a:spcPct val="15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Harmandeep Kaur (Model builder)</a:t>
              </a:r>
            </a:p>
            <a:p>
              <a:pPr lvl="0">
                <a:lnSpc>
                  <a:spcPct val="15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Gurpreet Kaur(Research and </a:t>
              </a:r>
              <a:r>
                <a:rPr lang="en-US" dirty="0" smtClean="0">
                  <a:solidFill>
                    <a:schemeClr val="tx1"/>
                  </a:solidFill>
                </a:rPr>
                <a:t>training</a:t>
              </a:r>
              <a:r>
                <a:rPr lang="en-US" dirty="0">
                  <a:solidFill>
                    <a:schemeClr val="tx1"/>
                  </a:solidFill>
                </a:rPr>
                <a:t>)</a:t>
              </a:r>
            </a:p>
            <a:p>
              <a:pPr lvl="0">
                <a:lnSpc>
                  <a:spcPct val="250000"/>
                </a:lnSpc>
              </a:pPr>
              <a:r>
                <a:rPr lang="en-IN" b="1" dirty="0"/>
                <a:t>Course:</a:t>
              </a:r>
              <a:r>
                <a:rPr lang="en-IN" dirty="0"/>
                <a:t> SIC Artificial Intelligence</a:t>
              </a:r>
            </a:p>
            <a:p>
              <a:pPr lvl="0">
                <a:lnSpc>
                  <a:spcPct val="250000"/>
                </a:lnSpc>
              </a:pPr>
              <a:r>
                <a:rPr lang="en-IN" b="1" dirty="0"/>
                <a:t>College &amp; Batch Code :- </a:t>
              </a:r>
              <a:r>
                <a:rPr lang="en-IN" dirty="0"/>
                <a:t>Gandhi Memorial National College Ambala Cantt ,(25083)</a:t>
              </a: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lt1"/>
                </a:solidFill>
              </a:rPr>
              <a:t>Rule-Based Chatbot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xmlns="" id="{5A59423B-3E3F-8016-E4CB-1FF9A8C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xmlns="" id="{60768E0D-C8F8-3514-ABA2-839F1D3F5EDA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xmlns="" id="{6EE9B28F-17EA-AFD1-6211-C1BD78BE8CF7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xmlns="" id="{02FF4208-F554-E9D6-EF6F-FC55C17522C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xmlns="" id="{BBD05678-D32A-AB30-6669-040226575301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Rule-Based Chatbot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074A3B9-5DC3-2B1E-1456-617DA4DB7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16" y="2108484"/>
            <a:ext cx="83381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problem are you solving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 smtClean="0"/>
              <a:t>In </a:t>
            </a:r>
            <a:r>
              <a:rPr lang="en-US" sz="1600" dirty="0"/>
              <a:t>IT companies, students and freshers often face difficulty in getting clear and timely </a:t>
            </a:r>
            <a:r>
              <a:rPr lang="en-US" sz="1600" dirty="0" smtClean="0"/>
              <a:t>information </a:t>
            </a:r>
            <a:r>
              <a:rPr lang="en-US" sz="1600" dirty="0"/>
              <a:t>related to internships, eligibility criteria, application process, and roles.</a:t>
            </a:r>
            <a:br>
              <a:rPr lang="en-US" sz="1600" dirty="0"/>
            </a:br>
            <a:r>
              <a:rPr lang="en-US" sz="1600" dirty="0"/>
              <a:t>Most of this information is shared manually through emails or coordinators, which causes delays and confusion</a:t>
            </a:r>
            <a:r>
              <a:rPr lang="en-US" sz="1600" dirty="0" smtClean="0"/>
              <a:t>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The proposed rule-based chatbot provides instant and accurate responses to internship-related queries, improving accessibility and user experience</a:t>
            </a:r>
            <a:r>
              <a:rPr lang="en-US" sz="1600" dirty="0" smtClean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600" dirty="0" smtClean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Who is affected by this problem?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This problem mainly affects </a:t>
            </a:r>
            <a:r>
              <a:rPr lang="en-US" sz="1600" b="1" dirty="0"/>
              <a:t>students and freshers</a:t>
            </a:r>
            <a:r>
              <a:rPr lang="en-US" sz="1600" dirty="0"/>
              <a:t> who are looking for internship-related information in IT companies.</a:t>
            </a:r>
            <a:br>
              <a:rPr lang="en-US" sz="1600" dirty="0"/>
            </a:br>
            <a:r>
              <a:rPr lang="en-US" sz="1600" dirty="0"/>
              <a:t>It also affects </a:t>
            </a:r>
            <a:r>
              <a:rPr lang="en-US" sz="1600" b="1" dirty="0"/>
              <a:t>HR and training teams</a:t>
            </a:r>
            <a:r>
              <a:rPr lang="en-US" sz="1600" dirty="0"/>
              <a:t>, who have to repeatedly answer the same internship queries.</a:t>
            </a:r>
            <a:br>
              <a:rPr lang="en-US" sz="1600" dirty="0"/>
            </a:br>
            <a:r>
              <a:rPr lang="en-US" sz="1600" dirty="0"/>
              <a:t>Due to delayed responses, </a:t>
            </a:r>
            <a:r>
              <a:rPr lang="en-US" sz="1600" b="1" dirty="0"/>
              <a:t>applicants face confusion and miss opportunities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Overall, the efficiency and communication process of the organization is impacted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6997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xmlns="" id="{62482932-B83B-0B54-085E-3B3A5932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xmlns="" id="{92151D37-B8E0-B876-4547-F029923D01C9}"/>
              </a:ext>
            </a:extLst>
          </p:cNvPr>
          <p:cNvGrpSpPr/>
          <p:nvPr/>
        </p:nvGrpSpPr>
        <p:grpSpPr>
          <a:xfrm>
            <a:off x="710836" y="1394600"/>
            <a:ext cx="4379913" cy="276999"/>
            <a:chOff x="4181256" y="3086282"/>
            <a:chExt cx="4379913" cy="276999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xmlns="" id="{E4A7183F-E94F-E8D9-1986-4F12BDD3A925}"/>
                </a:ext>
              </a:extLst>
            </p:cNvPr>
            <p:cNvSpPr/>
            <p:nvPr/>
          </p:nvSpPr>
          <p:spPr>
            <a:xfrm>
              <a:off x="4364136" y="30862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Objective of the Project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xmlns="" id="{3FEF93F0-2720-ABD7-1BAC-A0BA38B5DF6E}"/>
                </a:ext>
              </a:extLst>
            </p:cNvPr>
            <p:cNvSpPr/>
            <p:nvPr/>
          </p:nvSpPr>
          <p:spPr>
            <a:xfrm>
              <a:off x="4181256" y="3097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xmlns="" id="{6A2654EC-F1AA-C848-62AF-AC30D1A1A5AE}"/>
              </a:ext>
            </a:extLst>
          </p:cNvPr>
          <p:cNvSpPr/>
          <p:nvPr/>
        </p:nvSpPr>
        <p:spPr>
          <a:xfrm>
            <a:off x="746461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Rule-Based Chatbot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0632631-E594-BFC9-A227-184B34D83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36" y="1955278"/>
            <a:ext cx="9336964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goals of the </a:t>
            </a:r>
            <a:r>
              <a:rPr kumimoji="0" lang="en-US" alt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</a:t>
            </a:r>
            <a:r>
              <a:rPr kumimoji="0" lang="en-US" altLang="en-US" sz="16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:-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altLang="en-US" sz="16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en-US" sz="1200" b="1" dirty="0"/>
              <a:t>Streamline Knowledge Access:</a:t>
            </a:r>
            <a:r>
              <a:rPr lang="en-US" sz="1200" dirty="0"/>
              <a:t> To transform complex domain data into a simple, searchable conversation.</a:t>
            </a:r>
          </a:p>
          <a:p>
            <a:endParaRPr lang="en-US" sz="1200" dirty="0"/>
          </a:p>
          <a:p>
            <a:r>
              <a:rPr lang="en-US" sz="1200" b="1" dirty="0"/>
              <a:t>2. Reduce Operational Burden:</a:t>
            </a:r>
            <a:r>
              <a:rPr lang="en-US" sz="1200" dirty="0"/>
              <a:t> To automate repetitive tasks so human staff can focus on more complex issues.</a:t>
            </a:r>
          </a:p>
          <a:p>
            <a:endParaRPr lang="en-US" sz="1200" dirty="0"/>
          </a:p>
          <a:p>
            <a:r>
              <a:rPr lang="en-US" sz="1200" b="1" dirty="0"/>
              <a:t>3. Standardize Information Delivery:</a:t>
            </a:r>
            <a:r>
              <a:rPr lang="en-US" sz="1200" dirty="0"/>
              <a:t> To ensure every user receives the exact same high-quality, verified answer.</a:t>
            </a:r>
          </a:p>
          <a:p>
            <a:endParaRPr lang="en-US" sz="1200" dirty="0"/>
          </a:p>
          <a:p>
            <a:r>
              <a:rPr lang="en-US" sz="1200" b="1" dirty="0"/>
              <a:t>4. Enable 24/7 Support:</a:t>
            </a:r>
            <a:r>
              <a:rPr lang="en-US" sz="1200" dirty="0"/>
              <a:t> To provide a reliable assistance tool that is available at any time without extra cost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altLang="en-US" sz="1600" b="1" u="sng" dirty="0">
                <a:solidFill>
                  <a:schemeClr val="tx1"/>
                </a:solidFill>
                <a:latin typeface="Arial" panose="020B0604020202020204" pitchFamily="34" charset="0"/>
              </a:rPr>
              <a:t>Expected outcome (what will the system do</a:t>
            </a:r>
            <a:r>
              <a:rPr lang="en-IN" altLang="en-US" sz="1600" b="1" u="sng" dirty="0" smtClean="0">
                <a:solidFill>
                  <a:schemeClr val="tx1"/>
                </a:solidFill>
                <a:latin typeface="Arial" panose="020B0604020202020204" pitchFamily="34" charset="0"/>
              </a:rPr>
              <a:t>?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altLang="en-US" sz="1600" b="1" u="sng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24/7 Availability: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Provides instant support to users at any time of day, removing the need for human staff to be online around the clock.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2. Zero Hallucination: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Because the system is </a:t>
            </a: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rule-based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, it only gives pre-approved answers, ensuring 100% accuracy for every response.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3. Instant Response Time: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Users no longer have to wait in queues or search through long PDF documents to find the specific information they need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4. I</a:t>
            </a:r>
            <a:r>
              <a:rPr lang="en-US" sz="1200" b="1" dirty="0"/>
              <a:t>mprove User Experience:</a:t>
            </a:r>
            <a:r>
              <a:rPr lang="en-US" sz="1200" dirty="0"/>
              <a:t> To deliver a standardized support system that provides immediate solutions without wait times.</a:t>
            </a: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57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xmlns="" id="{60E1FBCD-19A6-ABFC-D4AB-0BDB53A7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xmlns="" id="{8055310A-EB77-F2B7-6EA4-032AA3C14356}"/>
              </a:ext>
            </a:extLst>
          </p:cNvPr>
          <p:cNvGrpSpPr/>
          <p:nvPr/>
        </p:nvGrpSpPr>
        <p:grpSpPr>
          <a:xfrm>
            <a:off x="710836" y="1561350"/>
            <a:ext cx="4379913" cy="276999"/>
            <a:chOff x="4181256" y="3202232"/>
            <a:chExt cx="4379913" cy="276999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xmlns="" id="{AA9AF2F5-8190-D87E-D70D-DAEF786C0BC7}"/>
                </a:ext>
              </a:extLst>
            </p:cNvPr>
            <p:cNvSpPr/>
            <p:nvPr/>
          </p:nvSpPr>
          <p:spPr>
            <a:xfrm>
              <a:off x="4364136" y="320223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sng" strike="noStrike" cap="none" dirty="0">
                  <a:solidFill>
                    <a:srgbClr val="3F3F3F"/>
                  </a:solidFill>
                  <a:sym typeface="Arial"/>
                </a:rPr>
                <a:t>Proposed Solution</a:t>
              </a:r>
              <a:endParaRPr b="1" u="sng"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xmlns="" id="{CE9CC80D-D795-CAD9-EC05-452BE27A7048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xmlns="" id="{AB35FBEF-9E92-07A1-B120-5ACAC3720BA1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Rule-Based Chatbot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DD6CCF3-8276-B016-C27B-6CE6212669A9}"/>
              </a:ext>
            </a:extLst>
          </p:cNvPr>
          <p:cNvSpPr txBox="1"/>
          <p:nvPr/>
        </p:nvSpPr>
        <p:spPr>
          <a:xfrm>
            <a:off x="607372" y="1886452"/>
            <a:ext cx="83451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dirty="0"/>
              <a:t>A rule-based </a:t>
            </a:r>
            <a:r>
              <a:rPr lang="en-US" dirty="0" err="1"/>
              <a:t>chatbot</a:t>
            </a:r>
            <a:r>
              <a:rPr lang="en-US" dirty="0"/>
              <a:t> that answers queries using </a:t>
            </a:r>
            <a:r>
              <a:rPr lang="en-US" b="1" dirty="0"/>
              <a:t>predefined keywords</a:t>
            </a:r>
            <a:r>
              <a:rPr lang="en-US" dirty="0"/>
              <a:t> from a knowledge </a:t>
            </a:r>
            <a:r>
              <a:rPr lang="en-US" dirty="0" smtClean="0"/>
              <a:t>base.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dirty="0" smtClean="0"/>
              <a:t>Supports </a:t>
            </a:r>
            <a:r>
              <a:rPr lang="en-US" b="1" dirty="0"/>
              <a:t>English and Hindi</a:t>
            </a:r>
            <a:r>
              <a:rPr lang="en-US" dirty="0"/>
              <a:t>, providing accurate and real-time </a:t>
            </a:r>
            <a:r>
              <a:rPr lang="en-US" dirty="0" smtClean="0"/>
              <a:t>responses.</a:t>
            </a:r>
            <a:endParaRPr lang="en-US" dirty="0"/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dirty="0" smtClean="0"/>
              <a:t>Built </a:t>
            </a:r>
            <a:r>
              <a:rPr lang="en-US" dirty="0"/>
              <a:t>with </a:t>
            </a:r>
            <a:r>
              <a:rPr lang="en-US" b="1" dirty="0" err="1"/>
              <a:t>Streamlit</a:t>
            </a:r>
            <a:r>
              <a:rPr lang="en-US" dirty="0"/>
              <a:t>, featuring interactive UI, colored chat bubbles, and suggested </a:t>
            </a:r>
            <a:r>
              <a:rPr lang="en-US" dirty="0" smtClean="0"/>
              <a:t>questions.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b="1" dirty="0" smtClean="0"/>
              <a:t>Scalable </a:t>
            </a:r>
            <a:r>
              <a:rPr lang="en-US" b="1" dirty="0"/>
              <a:t>and maintainable</a:t>
            </a:r>
            <a:r>
              <a:rPr lang="en-US" dirty="0"/>
              <a:t>, allowing easy addition of new questions and languages.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11A082A-837F-70BD-1CB5-25A69A7005EE}"/>
              </a:ext>
            </a:extLst>
          </p:cNvPr>
          <p:cNvSpPr txBox="1"/>
          <p:nvPr/>
        </p:nvSpPr>
        <p:spPr>
          <a:xfrm>
            <a:off x="607372" y="4504356"/>
            <a:ext cx="94602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Bonus </a:t>
            </a:r>
            <a:r>
              <a:rPr lang="en-US" b="1" dirty="0"/>
              <a:t>Features to Highlight: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Suggested Questions Buttons</a:t>
            </a:r>
            <a:r>
              <a:rPr lang="en-US" dirty="0"/>
              <a:t> </a:t>
            </a:r>
            <a:r>
              <a:rPr lang="en-US" dirty="0" smtClean="0"/>
              <a:t>:- Quick </a:t>
            </a:r>
            <a:r>
              <a:rPr lang="en-US" dirty="0"/>
              <a:t>interaction without typing.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Human-Like Response Delay</a:t>
            </a:r>
            <a:r>
              <a:rPr lang="en-US" dirty="0"/>
              <a:t> </a:t>
            </a:r>
            <a:r>
              <a:rPr lang="en-US" dirty="0" smtClean="0"/>
              <a:t>:-  </a:t>
            </a:r>
            <a:r>
              <a:rPr lang="en-US" dirty="0"/>
              <a:t>Spinner simulates “thinking” for better UX.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Scalable Knowledge Base</a:t>
            </a:r>
            <a:r>
              <a:rPr lang="en-US" dirty="0"/>
              <a:t> </a:t>
            </a:r>
            <a:r>
              <a:rPr lang="en-US" dirty="0" smtClean="0"/>
              <a:t>:-  </a:t>
            </a:r>
            <a:r>
              <a:rPr lang="en-US" dirty="0"/>
              <a:t>Add new Q&amp;A in CSV without changing </a:t>
            </a:r>
            <a:r>
              <a:rPr lang="en-US" dirty="0" smtClean="0"/>
              <a:t>code.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Persistent </a:t>
            </a:r>
            <a:r>
              <a:rPr lang="en-US" b="1" dirty="0"/>
              <a:t>Chat </a:t>
            </a:r>
            <a:r>
              <a:rPr lang="en-US" b="1" dirty="0" smtClean="0"/>
              <a:t>History :- </a:t>
            </a:r>
            <a:r>
              <a:rPr lang="en-US" dirty="0" smtClean="0"/>
              <a:t>Keeps </a:t>
            </a:r>
            <a:r>
              <a:rPr lang="en-US" dirty="0"/>
              <a:t>all messages saved in session state even on page reload.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29886BC-5873-DC2F-7AAA-3FF97D86E4C8}"/>
              </a:ext>
            </a:extLst>
          </p:cNvPr>
          <p:cNvSpPr txBox="1"/>
          <p:nvPr/>
        </p:nvSpPr>
        <p:spPr>
          <a:xfrm>
            <a:off x="746836" y="4043977"/>
            <a:ext cx="372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u="sng" dirty="0"/>
              <a:t>Unique Features</a:t>
            </a:r>
          </a:p>
        </p:txBody>
      </p:sp>
    </p:spTree>
    <p:extLst>
      <p:ext uri="{BB962C8B-B14F-4D97-AF65-F5344CB8AC3E}">
        <p14:creationId xmlns:p14="http://schemas.microsoft.com/office/powerpoint/2010/main" val="423068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xmlns="" id="{35601139-3BAC-9292-3ED3-B5308469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xmlns="" id="{8B5401BF-EF24-0258-1591-82129E83F4A3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xmlns="" id="{801C461D-A0DA-A104-FC90-9E9BCFD25988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System Architecture / Flow Diagram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xmlns="" id="{64BCC672-C645-4CF7-9CD0-F3A5EFE214C3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xmlns="" id="{7D31A5E2-6EB4-C015-39A4-90D07ACDA488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Rule-Based Chatbot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B44ECA2-F685-2995-5C82-0ABC06974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626" y="2743627"/>
            <a:ext cx="234360" cy="456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36" y="2141727"/>
            <a:ext cx="7661078" cy="420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0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xmlns="" id="{9830621B-B893-831E-FF1F-1B49F3CE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xmlns="" id="{3765C36A-27A3-80B8-5DAD-3BE08E0A3CC2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xmlns="" id="{EE6A1548-9AEF-D849-DF96-93703211C502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sng" strike="noStrike" cap="none" dirty="0">
                  <a:solidFill>
                    <a:srgbClr val="3F3F3F"/>
                  </a:solidFill>
                  <a:latin typeface="Times New Roman" pitchFamily="18" charset="0"/>
                  <a:cs typeface="Times New Roman" pitchFamily="18" charset="0"/>
                  <a:sym typeface="Arial"/>
                </a:rPr>
                <a:t>Tools, Technologies &amp; Libraries</a:t>
              </a:r>
              <a:endParaRPr b="1" u="sng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xmlns="" id="{6B5C259F-53DB-E23B-F121-A773C42585E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xmlns="" id="{7224B7AB-0AB2-DA02-A151-2896E7A85FF3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Rule-Based Chatbot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B3D2CA4-118E-7A8F-7DC8-5B10B4F5D622}"/>
              </a:ext>
            </a:extLst>
          </p:cNvPr>
          <p:cNvSpPr txBox="1"/>
          <p:nvPr/>
        </p:nvSpPr>
        <p:spPr>
          <a:xfrm>
            <a:off x="746836" y="2124489"/>
            <a:ext cx="8534399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+mj-lt"/>
                <a:cs typeface="Times New Roman" pitchFamily="18" charset="0"/>
              </a:rPr>
              <a:t>Programming </a:t>
            </a:r>
            <a:r>
              <a:rPr lang="en-US" sz="1500" b="1" dirty="0" smtClean="0">
                <a:latin typeface="+mj-lt"/>
                <a:cs typeface="Times New Roman" pitchFamily="18" charset="0"/>
              </a:rPr>
              <a:t>Language:</a:t>
            </a:r>
            <a:r>
              <a:rPr lang="en-US" sz="1500" dirty="0" smtClean="0">
                <a:latin typeface="+mj-lt"/>
                <a:cs typeface="Times New Roman" pitchFamily="18" charset="0"/>
              </a:rPr>
              <a:t>  </a:t>
            </a:r>
          </a:p>
          <a:p>
            <a:r>
              <a:rPr lang="en-US" sz="1500" dirty="0">
                <a:latin typeface="+mj-lt"/>
                <a:cs typeface="Times New Roman" pitchFamily="18" charset="0"/>
              </a:rPr>
              <a:t> </a:t>
            </a:r>
            <a:r>
              <a:rPr lang="en-US" sz="1500" dirty="0" smtClean="0">
                <a:latin typeface="+mj-lt"/>
                <a:cs typeface="Times New Roman" pitchFamily="18" charset="0"/>
              </a:rPr>
              <a:t>     Python, HTML , CSS</a:t>
            </a:r>
          </a:p>
          <a:p>
            <a:endParaRPr lang="en-US" sz="1500" dirty="0" smtClean="0">
              <a:latin typeface="+mj-lt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 smtClean="0">
                <a:latin typeface="+mj-lt"/>
                <a:cs typeface="Times New Roman" pitchFamily="18" charset="0"/>
              </a:rPr>
              <a:t>Framework</a:t>
            </a:r>
            <a:r>
              <a:rPr lang="en-US" sz="1500" b="1" dirty="0">
                <a:latin typeface="+mj-lt"/>
                <a:cs typeface="Times New Roman" pitchFamily="18" charset="0"/>
              </a:rPr>
              <a:t>:</a:t>
            </a:r>
            <a:endParaRPr lang="en-US" sz="1500" dirty="0">
              <a:latin typeface="+mj-lt"/>
              <a:cs typeface="Times New Roman" pitchFamily="18" charset="0"/>
            </a:endParaRPr>
          </a:p>
          <a:p>
            <a:r>
              <a:rPr lang="en-US" sz="1500" dirty="0" smtClean="0">
                <a:latin typeface="+mj-lt"/>
              </a:rPr>
              <a:t>      Streamlit </a:t>
            </a:r>
            <a:r>
              <a:rPr lang="en-US" sz="1500" dirty="0">
                <a:latin typeface="+mj-lt"/>
              </a:rPr>
              <a:t>(for developing the interactive web application interface</a:t>
            </a:r>
            <a:r>
              <a:rPr lang="en-US" sz="1500" dirty="0" smtClean="0">
                <a:latin typeface="+mj-lt"/>
              </a:rPr>
              <a:t>)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500" dirty="0">
              <a:latin typeface="+mj-lt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 smtClean="0">
                <a:latin typeface="+mj-lt"/>
                <a:cs typeface="Times New Roman" pitchFamily="18" charset="0"/>
              </a:rPr>
              <a:t>Libraries:</a:t>
            </a:r>
            <a:endParaRPr lang="en-US" sz="1500" dirty="0">
              <a:latin typeface="+mj-lt"/>
              <a:cs typeface="Times New Roman" pitchFamily="18" charset="0"/>
            </a:endParaRPr>
          </a:p>
          <a:p>
            <a:r>
              <a:rPr lang="en-US" sz="1500" dirty="0" smtClean="0">
                <a:latin typeface="+mj-lt"/>
                <a:cs typeface="Times New Roman" pitchFamily="18" charset="0"/>
              </a:rPr>
              <a:t>       </a:t>
            </a:r>
            <a:r>
              <a:rPr lang="en-US" sz="1500" dirty="0" smtClean="0">
                <a:latin typeface="+mj-lt"/>
              </a:rPr>
              <a:t>Pandas </a:t>
            </a:r>
            <a:r>
              <a:rPr lang="en-US" sz="1500" dirty="0">
                <a:latin typeface="+mj-lt"/>
              </a:rPr>
              <a:t>– For data handling and CSV-based knowledge management</a:t>
            </a:r>
          </a:p>
          <a:p>
            <a:r>
              <a:rPr lang="en-US" sz="1500" dirty="0" smtClean="0">
                <a:latin typeface="+mj-lt"/>
              </a:rPr>
              <a:t>       Regular </a:t>
            </a:r>
            <a:r>
              <a:rPr lang="en-US" sz="1500" dirty="0">
                <a:latin typeface="+mj-lt"/>
              </a:rPr>
              <a:t>Expressions (re) – For tokenization and keyword </a:t>
            </a:r>
            <a:r>
              <a:rPr lang="en-US" sz="1500" dirty="0" smtClean="0">
                <a:latin typeface="+mj-lt"/>
              </a:rPr>
              <a:t>extraction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500" dirty="0">
              <a:latin typeface="+mj-lt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+mj-lt"/>
                <a:cs typeface="Times New Roman" pitchFamily="18" charset="0"/>
              </a:rPr>
              <a:t>Development Tools:</a:t>
            </a:r>
            <a:endParaRPr lang="en-US" sz="1500" dirty="0">
              <a:latin typeface="+mj-lt"/>
              <a:cs typeface="Times New Roman" pitchFamily="18" charset="0"/>
            </a:endParaRPr>
          </a:p>
          <a:p>
            <a:r>
              <a:rPr lang="en-US" sz="1500" dirty="0" smtClean="0">
                <a:latin typeface="+mj-lt"/>
              </a:rPr>
              <a:t>      Visual </a:t>
            </a:r>
            <a:r>
              <a:rPr lang="en-US" sz="1500" dirty="0">
                <a:latin typeface="+mj-lt"/>
              </a:rPr>
              <a:t>Studio Code – Code development</a:t>
            </a:r>
          </a:p>
          <a:p>
            <a:r>
              <a:rPr lang="en-US" sz="1500" dirty="0">
                <a:latin typeface="+mj-lt"/>
              </a:rPr>
              <a:t> </a:t>
            </a:r>
            <a:r>
              <a:rPr lang="en-US" sz="1500" dirty="0" smtClean="0">
                <a:latin typeface="+mj-lt"/>
              </a:rPr>
              <a:t>     Jupyter </a:t>
            </a:r>
            <a:r>
              <a:rPr lang="en-US" sz="1500" dirty="0">
                <a:latin typeface="+mj-lt"/>
              </a:rPr>
              <a:t>Notebook – Data testing and validation</a:t>
            </a:r>
          </a:p>
          <a:p>
            <a:r>
              <a:rPr lang="en-US" sz="1500" dirty="0" smtClean="0">
                <a:latin typeface="+mj-lt"/>
              </a:rPr>
              <a:t>      GitHub </a:t>
            </a:r>
            <a:r>
              <a:rPr lang="en-US" sz="1500" dirty="0">
                <a:latin typeface="+mj-lt"/>
              </a:rPr>
              <a:t>– Version control and project </a:t>
            </a:r>
            <a:r>
              <a:rPr lang="en-US" sz="1500" dirty="0" smtClean="0">
                <a:latin typeface="+mj-lt"/>
              </a:rPr>
              <a:t>management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500" dirty="0">
              <a:latin typeface="+mj-lt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+mj-lt"/>
                <a:cs typeface="Times New Roman" pitchFamily="18" charset="0"/>
              </a:rPr>
              <a:t>Dataset Source</a:t>
            </a:r>
            <a:r>
              <a:rPr lang="en-US" sz="1500" b="1" dirty="0" smtClean="0">
                <a:latin typeface="+mj-lt"/>
                <a:cs typeface="Times New Roman" pitchFamily="18" charset="0"/>
              </a:rPr>
              <a:t>:</a:t>
            </a:r>
          </a:p>
          <a:p>
            <a:r>
              <a:rPr lang="en-US" sz="1500" dirty="0" smtClean="0">
                <a:latin typeface="+mj-lt"/>
              </a:rPr>
              <a:t>      Custom-built </a:t>
            </a:r>
            <a:r>
              <a:rPr lang="en-US" sz="1500" dirty="0">
                <a:latin typeface="+mj-lt"/>
              </a:rPr>
              <a:t>CSV dataset containing structured FAQ data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07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1285936"/>
            <a:ext cx="9382125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u="sng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Dataset </a:t>
            </a:r>
            <a:r>
              <a:rPr lang="en-US" sz="1600" b="1" u="sng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Description :</a:t>
            </a:r>
            <a:endParaRPr lang="en-US" sz="1600" b="1" u="sng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endParaRPr lang="en-US" b="1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Type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: Custom CSV-based Knowledge Base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Key Columns: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6286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Keywords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  <a:latin typeface="+mj-lt"/>
                <a:cs typeface="Arial" pitchFamily="34" charset="0"/>
              </a:rPr>
              <a:t>Answer Languages 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Supported: English and </a:t>
            </a:r>
            <a:r>
              <a:rPr lang="en-US" sz="1200" dirty="0" smtClean="0">
                <a:solidFill>
                  <a:schemeClr val="tx1"/>
                </a:solidFill>
                <a:latin typeface="+mj-lt"/>
                <a:cs typeface="Arial" pitchFamily="34" charset="0"/>
              </a:rPr>
              <a:t>Hindi Language</a:t>
            </a: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1" u="sng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Handling missing values using </a:t>
            </a:r>
            <a:r>
              <a:rPr lang="en-US" sz="1600" b="1" u="sng" dirty="0" err="1">
                <a:solidFill>
                  <a:schemeClr val="tx1"/>
                </a:solidFill>
                <a:latin typeface="+mj-lt"/>
                <a:cs typeface="Times New Roman" pitchFamily="18" charset="0"/>
              </a:rPr>
              <a:t>fillna</a:t>
            </a:r>
            <a:r>
              <a:rPr lang="en-US" sz="1600" b="1" u="sng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()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b="1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Data Preprocessing Steps: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Converting text to lowercase for uniformity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Tokenization using Regular Expressions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200" dirty="0" smtClean="0">
                <a:solidFill>
                  <a:schemeClr val="tx1"/>
                </a:solidFill>
                <a:latin typeface="+mj-lt"/>
                <a:cs typeface="Arial" pitchFamily="34" charset="0"/>
              </a:rPr>
              <a:t>Stop words 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removal (English and Hindi)</a:t>
            </a: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+mj-lt"/>
                <a:cs typeface="Arial" pitchFamily="34" charset="0"/>
              </a:rPr>
              <a:t>Keyword-based matching for response generation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5"/>
            </a:pPr>
            <a:endParaRPr lang="en-US" sz="12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100" dirty="0">
              <a:solidFill>
                <a:schemeClr val="tx1"/>
              </a:solidFill>
              <a:latin typeface="+mj-lt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1600" b="1" u="sng" dirty="0">
                <a:latin typeface="+mj-lt"/>
                <a:cs typeface="Times New Roman" pitchFamily="18" charset="0"/>
              </a:rPr>
              <a:t>Processing Flow</a:t>
            </a:r>
            <a:r>
              <a:rPr lang="en-US" sz="1600" b="1" u="sng" dirty="0" smtClean="0">
                <a:latin typeface="+mj-lt"/>
                <a:cs typeface="Times New Roman" pitchFamily="18" charset="0"/>
              </a:rPr>
              <a:t>:</a:t>
            </a:r>
          </a:p>
          <a:p>
            <a:endParaRPr lang="en-US" sz="1600" b="1" dirty="0">
              <a:latin typeface="+mj-lt"/>
              <a:cs typeface="Times New Roman" pitchFamily="18" charset="0"/>
            </a:endParaRPr>
          </a:p>
          <a:p>
            <a:r>
              <a:rPr lang="en-US" b="1" dirty="0">
                <a:latin typeface="+mj-lt"/>
              </a:rPr>
              <a:t>User Input → Text Processing → Keyword Matching → Response Generation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4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xmlns="" id="{27B308FF-814A-D289-9712-1F135517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xmlns="" id="{5F3AD51A-CFAA-1F26-F161-083875E52E0C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xmlns="" id="{DD15EF8D-9EA7-264A-2B45-B5267B60EB9C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Project Screenshots / Project Designs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xmlns="" id="{4BD15D64-4EDF-81F2-630F-6728A8C9C96F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xmlns="" id="{6CD51A9C-B4FA-0069-9BDF-C6CB1005BB81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Rule-Based Chatbot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1C2E9EF-54E7-A8DF-E645-3A8D210D4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36" y="1835927"/>
            <a:ext cx="2326278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tabLst>
                <a:tab pos="447675" algn="l"/>
              </a:tabLst>
            </a:pPr>
            <a:r>
              <a:rPr lang="en-US" sz="1800" b="1" dirty="0" smtClean="0"/>
              <a:t>Insert UI designs :-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093" y="2839078"/>
            <a:ext cx="7365806" cy="329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2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88;p2">
            <a:extLst>
              <a:ext uri="{FF2B5EF4-FFF2-40B4-BE49-F238E27FC236}">
                <a16:creationId xmlns:a16="http://schemas.microsoft.com/office/drawing/2014/main" xmlns="" id="{5F3AD51A-CFAA-1F26-F161-083875E52E0C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3" name="Google Shape;89;p2">
              <a:extLst>
                <a:ext uri="{FF2B5EF4-FFF2-40B4-BE49-F238E27FC236}">
                  <a16:creationId xmlns:a16="http://schemas.microsoft.com/office/drawing/2014/main" xmlns="" id="{DD15EF8D-9EA7-264A-2B45-B5267B60EB9C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Project Screenshots / Project Designs</a:t>
              </a:r>
              <a:endParaRPr dirty="0"/>
            </a:p>
          </p:txBody>
        </p:sp>
        <p:sp>
          <p:nvSpPr>
            <p:cNvPr id="4" name="Google Shape;90;p2">
              <a:extLst>
                <a:ext uri="{FF2B5EF4-FFF2-40B4-BE49-F238E27FC236}">
                  <a16:creationId xmlns:a16="http://schemas.microsoft.com/office/drawing/2014/main" xmlns="" id="{4BD15D64-4EDF-81F2-630F-6728A8C9C96F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710836" y="2122929"/>
            <a:ext cx="56621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tabLst>
                <a:tab pos="447675" algn="l"/>
              </a:tabLst>
            </a:pPr>
            <a:r>
              <a:rPr lang="en-US" sz="1600" b="1" dirty="0" smtClean="0"/>
              <a:t>Model output Screenshot :- Output in English and Hindi 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56" y="2891515"/>
            <a:ext cx="4339443" cy="28596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149" y="3115734"/>
            <a:ext cx="4345525" cy="268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3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xmlns="" id="{F7BEB051-8142-E367-3920-D6E37DF7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xmlns="" id="{41718C6F-B8DE-CA8A-240E-68218888EE1A}"/>
              </a:ext>
            </a:extLst>
          </p:cNvPr>
          <p:cNvGrpSpPr/>
          <p:nvPr/>
        </p:nvGrpSpPr>
        <p:grpSpPr>
          <a:xfrm>
            <a:off x="710836" y="139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xmlns="" id="{5EE604B8-B3E1-8475-4C2B-66D77123761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Results &amp; Performance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xmlns="" id="{49983E4E-AEDD-2034-DC42-A184C1C02D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xmlns="" id="{0E6A5745-51F5-A468-15F6-90E7A5604CDA}"/>
              </a:ext>
            </a:extLst>
          </p:cNvPr>
          <p:cNvSpPr/>
          <p:nvPr/>
        </p:nvSpPr>
        <p:spPr>
          <a:xfrm>
            <a:off x="710836" y="357668"/>
            <a:ext cx="85083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</a:rPr>
              <a:t>Rule-Based Chatbot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FBE643A-C509-D540-A303-6D26B8B5A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84" y="1570152"/>
            <a:ext cx="868217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/ Final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</a:t>
            </a:r>
          </a:p>
          <a:p>
            <a:r>
              <a:rPr lang="en-US" sz="1200" dirty="0"/>
              <a:t>A rule-based IT company internship chatbot was successfully </a:t>
            </a:r>
            <a:r>
              <a:rPr lang="en-US" sz="1200" dirty="0" smtClean="0"/>
              <a:t>developed. The </a:t>
            </a:r>
            <a:r>
              <a:rPr lang="en-US" sz="1200" dirty="0"/>
              <a:t>chatbot provides instant and accurate answers to internship-related </a:t>
            </a:r>
            <a:r>
              <a:rPr lang="en-US" sz="1200" dirty="0" smtClean="0"/>
              <a:t>queries. It </a:t>
            </a:r>
            <a:r>
              <a:rPr lang="en-US" sz="1200" dirty="0"/>
              <a:t>supports a clean and user-friendly interface with bilingual </a:t>
            </a:r>
            <a:r>
              <a:rPr lang="en-US" sz="1200" dirty="0" smtClean="0"/>
              <a:t>support. The </a:t>
            </a:r>
            <a:r>
              <a:rPr lang="en-US" sz="1200" dirty="0"/>
              <a:t>system reduces manual effort and improves information accessibility</a:t>
            </a:r>
            <a:r>
              <a:rPr lang="en-US" sz="1200" dirty="0" smtClean="0"/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</a:t>
            </a:r>
          </a:p>
          <a:p>
            <a:r>
              <a:rPr lang="en-US" sz="1200" dirty="0"/>
              <a:t>Rule-based chatbots are effective for handling frequently asked </a:t>
            </a:r>
            <a:r>
              <a:rPr lang="en-US" sz="1200" dirty="0" smtClean="0"/>
              <a:t>questions. Keyword </a:t>
            </a:r>
            <a:r>
              <a:rPr lang="en-US" sz="1200" dirty="0"/>
              <a:t>matching provides fast and reliable </a:t>
            </a:r>
            <a:r>
              <a:rPr lang="en-US" sz="1200" dirty="0" smtClean="0"/>
              <a:t>responses. A </a:t>
            </a:r>
            <a:r>
              <a:rPr lang="en-US" sz="1200" dirty="0"/>
              <a:t>simple UI improves user engagement and ease of </a:t>
            </a:r>
            <a:r>
              <a:rPr lang="en-US" sz="1200" dirty="0" smtClean="0"/>
              <a:t>use. The </a:t>
            </a:r>
            <a:r>
              <a:rPr lang="en-US" sz="1200" dirty="0"/>
              <a:t>chatbot works efficiently without requiring complex AI models</a:t>
            </a:r>
            <a:r>
              <a:rPr lang="en-US" sz="1200" dirty="0" smtClean="0"/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IN" sz="1200" b="1" dirty="0"/>
              <a:t>Challenges </a:t>
            </a:r>
            <a:r>
              <a:rPr lang="en-IN" sz="1200" b="1" dirty="0" smtClean="0"/>
              <a:t>Faced</a:t>
            </a:r>
          </a:p>
          <a:p>
            <a:r>
              <a:rPr lang="en-US" sz="1200" dirty="0"/>
              <a:t>Handling different user query formats and </a:t>
            </a:r>
            <a:r>
              <a:rPr lang="en-US" sz="1200" dirty="0" smtClean="0"/>
              <a:t>spellings. Creating </a:t>
            </a:r>
            <a:r>
              <a:rPr lang="en-US" sz="1200" dirty="0"/>
              <a:t>accurate keyword–response mapping in the </a:t>
            </a:r>
            <a:r>
              <a:rPr lang="en-US" sz="1200" dirty="0" smtClean="0"/>
              <a:t>dataset. Designing </a:t>
            </a:r>
            <a:r>
              <a:rPr lang="en-US" sz="1200" dirty="0"/>
              <a:t>an attractive yet eye-friendly user </a:t>
            </a:r>
            <a:r>
              <a:rPr lang="en-US" sz="1200" dirty="0" smtClean="0"/>
              <a:t>interface. Managing </a:t>
            </a:r>
            <a:r>
              <a:rPr lang="en-US" sz="1200" dirty="0"/>
              <a:t>limitations of rule-based logic for complex queries</a:t>
            </a:r>
            <a:r>
              <a:rPr lang="en-US" sz="1200" dirty="0" smtClean="0"/>
              <a:t>.</a:t>
            </a:r>
            <a:endParaRPr lang="en-IN" sz="1200" dirty="0"/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IN" sz="1200" b="1" dirty="0"/>
              <a:t>Future </a:t>
            </a:r>
            <a:r>
              <a:rPr lang="en-IN" sz="1200" b="1" dirty="0" smtClean="0"/>
              <a:t>Scope</a:t>
            </a:r>
          </a:p>
          <a:p>
            <a:r>
              <a:rPr lang="en-US" sz="1200" dirty="0"/>
              <a:t>The chatbot can be extended to support more domains and </a:t>
            </a:r>
            <a:r>
              <a:rPr lang="en-US" sz="1200" dirty="0" smtClean="0"/>
              <a:t>queries. Integration </a:t>
            </a:r>
            <a:r>
              <a:rPr lang="en-US" sz="1200" dirty="0"/>
              <a:t>with databases or APIs for real-time </a:t>
            </a:r>
            <a:r>
              <a:rPr lang="en-US" sz="1200" dirty="0" smtClean="0"/>
              <a:t>information. Deployment </a:t>
            </a:r>
            <a:r>
              <a:rPr lang="en-US" sz="1200" dirty="0"/>
              <a:t>on company websites or mobile </a:t>
            </a:r>
            <a:r>
              <a:rPr lang="en-US" sz="1200" dirty="0" smtClean="0"/>
              <a:t>applications. Enhancement </a:t>
            </a:r>
            <a:r>
              <a:rPr lang="en-US" sz="1200" dirty="0"/>
              <a:t>using machine learning or NLP </a:t>
            </a:r>
            <a:r>
              <a:rPr lang="en-US" sz="1200" dirty="0" smtClean="0"/>
              <a:t>techniques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Features to be 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added</a:t>
            </a:r>
          </a:p>
          <a:p>
            <a:r>
              <a:rPr lang="en-US" sz="1200" dirty="0" smtClean="0"/>
              <a:t>Voice-based query support. Advanced NLP-based understanding. Admin panel for dynamic data updates. User </a:t>
            </a:r>
            <a:r>
              <a:rPr lang="en-US" sz="1200" dirty="0"/>
              <a:t>authentication and feedback system</a:t>
            </a:r>
            <a:r>
              <a:rPr lang="en-US" sz="12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6061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" y="0"/>
            <a:ext cx="9902826" cy="6858000"/>
            <a:chOff x="-1" y="0"/>
            <a:chExt cx="9902826" cy="6858000"/>
          </a:xfrm>
        </p:grpSpPr>
        <p:pic>
          <p:nvPicPr>
            <p:cNvPr id="11" name="그림 2">
              <a:extLst>
                <a:ext uri="{FF2B5EF4-FFF2-40B4-BE49-F238E27FC236}">
                  <a16:creationId xmlns:a16="http://schemas.microsoft.com/office/drawing/2014/main" xmlns="" id="{5DB88D6A-0437-41B5-8719-35E861A56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98"/>
              <a:ext cx="9902825" cy="6855802"/>
            </a:xfrm>
            <a:prstGeom prst="rect">
              <a:avLst/>
            </a:prstGeom>
          </p:spPr>
        </p:pic>
        <p:sp>
          <p:nvSpPr>
            <p:cNvPr id="13" name="직사각형 17">
              <a:extLst>
                <a:ext uri="{FF2B5EF4-FFF2-40B4-BE49-F238E27FC236}">
                  <a16:creationId xmlns:a16="http://schemas.microsoft.com/office/drawing/2014/main" xmlns="" id="{789C5074-4DAE-4026-AD47-B9945924B2E2}"/>
                </a:ext>
              </a:extLst>
            </p:cNvPr>
            <p:cNvSpPr/>
            <p:nvPr/>
          </p:nvSpPr>
          <p:spPr>
            <a:xfrm>
              <a:off x="-1" y="0"/>
              <a:ext cx="9902826" cy="685800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" panose="020B0503030303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1">
              <a:extLst>
                <a:ext uri="{FF2B5EF4-FFF2-40B4-BE49-F238E27FC236}">
                  <a16:creationId xmlns:a16="http://schemas.microsoft.com/office/drawing/2014/main" xmlns="" id="{8F374A7D-F260-4587-9A59-12BC85A3DDC1}"/>
                </a:ext>
              </a:extLst>
            </p:cNvPr>
            <p:cNvCxnSpPr/>
            <p:nvPr/>
          </p:nvCxnSpPr>
          <p:spPr>
            <a:xfrm>
              <a:off x="656391" y="2327183"/>
              <a:ext cx="0" cy="197605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33">
              <a:extLst>
                <a:ext uri="{FF2B5EF4-FFF2-40B4-BE49-F238E27FC236}">
                  <a16:creationId xmlns:a16="http://schemas.microsoft.com/office/drawing/2014/main" xmlns="" id="{D24015EF-24A9-454E-B555-41065A382381}"/>
                </a:ext>
              </a:extLst>
            </p:cNvPr>
            <p:cNvSpPr/>
            <p:nvPr/>
          </p:nvSpPr>
          <p:spPr>
            <a:xfrm>
              <a:off x="848337" y="2399574"/>
              <a:ext cx="8398097" cy="18312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Samsung Sharp Sans" pitchFamily="2" charset="0"/>
                  <a:cs typeface="Samsung Sharp Sans" pitchFamily="2" charset="0"/>
                </a:rPr>
                <a:t>Thank </a:t>
              </a:r>
              <a:r>
                <a:rPr kumimoji="0" lang="en-US" altLang="ko-KR" sz="55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Samsung Sharp Sans" pitchFamily="2" charset="0"/>
                  <a:cs typeface="Samsung Sharp Sans" pitchFamily="2" charset="0"/>
                </a:rPr>
                <a:t>You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400" b="1" kern="1200" dirty="0">
                <a:solidFill>
                  <a:prstClr val="white"/>
                </a:solidFill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lvl="0" latinLnBrk="1">
                <a:buClrTx/>
                <a:defRPr/>
              </a:pPr>
              <a:r>
                <a:rPr lang="en-IN" sz="4000" b="1" dirty="0"/>
                <a:t>Open for Questions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</p:txBody>
        </p:sp>
      </p:grpSp>
      <p:cxnSp>
        <p:nvCxnSpPr>
          <p:cNvPr id="21" name="직선 연결선 8">
            <a:extLst>
              <a:ext uri="{FF2B5EF4-FFF2-40B4-BE49-F238E27FC236}">
                <a16:creationId xmlns:a16="http://schemas.microsoft.com/office/drawing/2014/main" xmlns="" id="{25DE7436-47BD-40B7-92CB-A7CD2878D696}"/>
              </a:ext>
            </a:extLst>
          </p:cNvPr>
          <p:cNvCxnSpPr/>
          <p:nvPr/>
        </p:nvCxnSpPr>
        <p:spPr>
          <a:xfrm>
            <a:off x="569681" y="6209429"/>
            <a:ext cx="87743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7">
            <a:extLst>
              <a:ext uri="{FF2B5EF4-FFF2-40B4-BE49-F238E27FC236}">
                <a16:creationId xmlns:a16="http://schemas.microsoft.com/office/drawing/2014/main" xmlns="" id="{7FDCF192-C90A-4624-9B5C-7829663CF369}"/>
              </a:ext>
            </a:extLst>
          </p:cNvPr>
          <p:cNvSpPr/>
          <p:nvPr/>
        </p:nvSpPr>
        <p:spPr>
          <a:xfrm>
            <a:off x="572597" y="6355371"/>
            <a:ext cx="2888788" cy="200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3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290370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834</Words>
  <Application>Microsoft Office PowerPoint</Application>
  <PresentationFormat>Custom</PresentationFormat>
  <Paragraphs>124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 RULE-BASED CHATBOT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Soon Yong Chang</dc:creator>
  <cp:lastModifiedBy>hp</cp:lastModifiedBy>
  <cp:revision>28</cp:revision>
  <dcterms:created xsi:type="dcterms:W3CDTF">2019-07-06T14:12:49Z</dcterms:created>
  <dcterms:modified xsi:type="dcterms:W3CDTF">2026-02-26T06:22:42Z</dcterms:modified>
</cp:coreProperties>
</file>